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Taux erreurs</c:v>
                </c:pt>
              </c:strCache>
            </c:strRef>
          </c:tx>
          <c:dPt>
            <c:idx val="0"/>
            <c:spPr>
              <a:solidFill>
                <a:srgbClr val="B8945F"/>
              </a:solidFill>
            </c:spPr>
          </c:dPt>
          <c:dPt>
            <c:idx val="1"/>
            <c:spPr>
              <a:solidFill>
                <a:srgbClr val="B8945F"/>
              </a:solidFill>
            </c:spPr>
          </c:dPt>
          <c:dPt>
            <c:idx val="2"/>
            <c:spPr>
              <a:solidFill>
                <a:srgbClr val="B8945F"/>
              </a:solidFill>
            </c:spPr>
          </c:dPt>
          <c:dPt>
            <c:idx val="3"/>
            <c:spPr>
              <a:solidFill>
                <a:srgbClr val="B8945F"/>
              </a:solidFill>
            </c:spPr>
          </c:dPt>
          <c:dPt>
            <c:idx val="4"/>
            <c:spPr>
              <a:solidFill>
                <a:srgbClr val="DC2626"/>
              </a:solidFill>
            </c:spPr>
          </c:dPt>
          <c:dPt>
            <c:idx val="5"/>
            <c:spPr>
              <a:solidFill>
                <a:srgbClr val="DC2626"/>
              </a:solidFill>
            </c:spPr>
          </c:dPt>
          <c:dLbls>
            <c:numFmt formatCode="0.0&quot;%&quot;" sourceLinked="0"/>
            <c:txPr>
              <a:bodyPr/>
              <a:lstStyle/>
              <a:p>
                <a:pPr>
                  <a:defRPr sz="1000" b="1"/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10.9</c:v>
                </c:pt>
                <c:pt idx="1">
                  <c:v>12.4</c:v>
                </c:pt>
                <c:pt idx="2">
                  <c:v>14.3</c:v>
                </c:pt>
                <c:pt idx="3">
                  <c:v>15.5</c:v>
                </c:pt>
                <c:pt idx="4">
                  <c:v>18.3</c:v>
                </c:pt>
                <c:pt idx="5">
                  <c:v>21.4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jp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jpg"/><Relationship Id="rId13" Type="http://schemas.openxmlformats.org/officeDocument/2006/relationships/image" Target="../media/image12.jpg"/><Relationship Id="rId14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Plus Jakarta Sans"/>
              </a:defRPr>
            </a:pPr>
            <a:r>
              <a:t>ABL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Plus Jakarta Sans"/>
              </a:defRPr>
            </a:pPr>
            <a:r>
              <a:t>Votre partenaire de confiance</a:t>
            </a:r>
            <a:br/>
            <a:r>
              <a:t>pour une retraite sereine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8945F"/>
                </a:solidFill>
                <a:latin typeface="Plus Jakarta Sans"/>
              </a:defRPr>
            </a:pPr>
            <a:r>
              <a:t>PRÉSENTATION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029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Plus Jakarta Sans"/>
              </a:defRPr>
            </a:pPr>
            <a:r>
              <a:t>Expert indépendant en retraite obligatoire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0972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8945F"/>
                </a:solidFill>
                <a:latin typeface="Inter"/>
              </a:defRPr>
            </a:pPr>
            <a:r>
              <a:t>LA RETRAITE EN FRANCE, UN SUJET…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01168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Plus Jakarta Sans"/>
              </a:defRPr>
            </a:pPr>
            <a:r>
              <a:t>Universel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01168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Plus Jakarta Sans"/>
              </a:defRPr>
            </a:pPr>
            <a:r>
              <a:t>Personnel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402336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Plus Jakarta Sans"/>
              </a:defRPr>
            </a:pPr>
            <a:r>
              <a:t>Nébuleux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02336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Plus Jakarta Sans"/>
              </a:defRPr>
            </a:pPr>
            <a:r>
              <a:t>Technique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8945F"/>
                </a:solidFill>
                <a:latin typeface="Inter"/>
              </a:defRPr>
            </a:pPr>
            <a:r>
              <a:t>REPÈRES CHIFFRÉS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Plus Jakarta Sans"/>
              </a:defRPr>
            </a:pPr>
            <a:r>
              <a:t>La retraite en France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B8945F"/>
                </a:solidFill>
                <a:latin typeface="Plus Jakarta Sans"/>
              </a:defRPr>
            </a:pPr>
            <a:r>
              <a:t>353 Md€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Plus Jakarta Sans"/>
              </a:defRPr>
            </a:pPr>
            <a:r>
              <a:t>versés annuellement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20116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B8945F"/>
                </a:solidFill>
                <a:latin typeface="Plus Jakarta Sans"/>
              </a:defRPr>
            </a:pPr>
            <a:r>
              <a:t>17,9 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5603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Plus Jakarta Sans"/>
              </a:defRPr>
            </a:pPr>
            <a:r>
              <a:t>de bénéficiaires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0116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B8945F"/>
                </a:solidFill>
                <a:latin typeface="Plus Jakarta Sans"/>
              </a:defRPr>
            </a:pPr>
            <a:r>
              <a:t>1 512 €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5603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Plus Jakarta Sans"/>
              </a:defRPr>
            </a:pPr>
            <a:r>
              <a:t>pension nette moyenne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20116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B8945F"/>
                </a:solidFill>
                <a:latin typeface="Plus Jakarta Sans"/>
              </a:defRPr>
            </a:pPr>
            <a:r>
              <a:t>72,1 %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25603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Plus Jakarta Sans"/>
              </a:defRPr>
            </a:pPr>
            <a:r>
              <a:t>taux de remplacement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062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B8945F"/>
                </a:solidFill>
                <a:latin typeface="Plus Jakarta Sans"/>
              </a:defRPr>
            </a:pPr>
            <a:r>
              <a:t>30,1 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7548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Plus Jakarta Sans"/>
              </a:defRPr>
            </a:pPr>
            <a:r>
              <a:t>de cotisants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42062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B8945F"/>
                </a:solidFill>
                <a:latin typeface="Plus Jakarta Sans"/>
              </a:defRPr>
            </a:pPr>
            <a:r>
              <a:t>23 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47548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Plus Jakarta Sans"/>
              </a:defRPr>
            </a:pPr>
            <a:r>
              <a:t>durée de perception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2062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C2626"/>
                </a:solidFill>
                <a:latin typeface="Plus Jakarta Sans"/>
              </a:defRPr>
            </a:pPr>
            <a:r>
              <a:t>21,4 %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7548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Plus Jakarta Sans"/>
              </a:defRPr>
            </a:pPr>
            <a:r>
              <a:t>d'erreurs sur les pensions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47548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Plus Jakarta Sans"/>
              </a:defRPr>
            </a:pPr>
            <a:r>
              <a:t>Sources : DREES / Cour des Comptes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8945F"/>
                </a:solidFill>
                <a:latin typeface="Inter"/>
              </a:defRPr>
            </a:pPr>
            <a:r>
              <a:t>LE SYSTÈME DE RETRAITE EN FRANCE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Plus Jakarta Sans"/>
              </a:defRPr>
            </a:pPr>
            <a:r>
              <a:t>Trois piliers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832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B8945F"/>
                </a:solidFill>
                <a:latin typeface="Plus Jakarta Sans"/>
              </a:defRPr>
            </a:pPr>
            <a:r>
              <a:t>1er pilier — Obligatoire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4904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Plus Jakarta Sans"/>
              </a:defRPr>
            </a:pPr>
            <a:r>
              <a:t>Retraite de 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Plus Jakarta Sans"/>
              </a:defRPr>
            </a:pPr>
            <a:r>
              <a:t>Régime Général (CARSAT), MSA, SSI, SRE, CNRACL, régimes spéciaux, professions libérales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Plus Jakarta Sans"/>
              </a:defRPr>
            </a:pPr>
            <a:r>
              <a:t>Système par répartition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3840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B8945F"/>
                </a:solidFill>
                <a:latin typeface="Plus Jakarta Sans"/>
              </a:defRPr>
            </a:pPr>
            <a:r>
              <a:t>2e pilier — Obligatoire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4206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Plus Jakarta Sans"/>
              </a:defRPr>
            </a:pPr>
            <a:r>
              <a:t>Retraite complémentaire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47548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Plus Jakarta Sans"/>
              </a:defRPr>
            </a:pPr>
            <a:r>
              <a:t>AGIRC-ARRCO, IRCANTEC, RAFP…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62179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Plus Jakarta Sans"/>
              </a:defRPr>
            </a:pPr>
            <a:r>
              <a:t>Système par répartition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4297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B8945F"/>
                </a:solidFill>
                <a:latin typeface="Plus Jakarta Sans"/>
              </a:defRPr>
            </a:pPr>
            <a:r>
              <a:t>3e pilier — Optionnel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4663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Plus Jakarta Sans"/>
              </a:defRPr>
            </a:pPr>
            <a:r>
              <a:t>Retraite supplémentaire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52120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Plus Jakarta Sans"/>
              </a:defRPr>
            </a:pPr>
            <a:r>
              <a:t>Épargne individuelle ou entreprise (PER, PERCO, art. 83)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6217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Plus Jakarta Sans"/>
              </a:defRPr>
            </a:pPr>
            <a:r>
              <a:t>Système par capitalisation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8945F"/>
                </a:solidFill>
                <a:latin typeface="Inter"/>
              </a:defRPr>
            </a:pPr>
            <a:r>
              <a:t>LES RETRAITES OBLIGATOIRES EN FRANCE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744"/>
                </a:solidFill>
                <a:latin typeface="Plus Jakarta Sans"/>
              </a:defRPr>
            </a:pPr>
            <a:r>
              <a:t>42 régimes nationaux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365760"/>
          </a:xfrm>
          <a:prstGeom prst="rect">
            <a:avLst/>
          </a:prstGeom>
          <a:solidFill>
            <a:srgbClr val="1A2744"/>
          </a:solidFill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Plus Jakarta Sans"/>
              </a:defRPr>
            </a:pPr>
            <a:r>
              <a:t>RÉGIMES DE 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Plus Jakarta Sans"/>
              </a:defRPr>
            </a:pPr>
            <a:r>
              <a:t>• CNAV / CARSAT — Régime Général</a:t>
            </a:r>
            <a:br/>
            <a:r>
              <a:t>• MSA — Agricoles</a:t>
            </a:r>
            <a:br/>
            <a:r>
              <a:t>• SSI (ex-RSI) — Indépendants</a:t>
            </a:r>
            <a:br/>
            <a:r>
              <a:t>• SRE — Fonctionnaires d'État</a:t>
            </a:r>
            <a:br/>
            <a:r>
              <a:t>• CNRACL — Territoriaux et hospitaliers</a:t>
            </a:r>
            <a:br/>
            <a:r>
              <a:t>• CPR SNCF, RATP — Régimes spéciaux</a:t>
            </a:r>
            <a:br/>
            <a:r>
              <a:t>• CNAVPL (dont CIPAV) — Professions libérales</a:t>
            </a:r>
            <a:br/>
            <a:r>
              <a:t>• CNBF — Avocats</a:t>
            </a:r>
          </a:p>
        </p:txBody>
      </p:sp>
      <p:pic>
        <p:nvPicPr>
          <p:cNvPr id="6" name="Picture 5" descr="Assurance retra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0"/>
            <a:ext cx="1178761" cy="274320"/>
          </a:xfrm>
          <a:prstGeom prst="rect">
            <a:avLst/>
          </a:prstGeom>
        </p:spPr>
      </p:pic>
      <p:pic>
        <p:nvPicPr>
          <p:cNvPr id="7" name="Picture 6" descr="ms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161" y="4572000"/>
            <a:ext cx="584036" cy="274320"/>
          </a:xfrm>
          <a:prstGeom prst="rect">
            <a:avLst/>
          </a:prstGeom>
        </p:spPr>
      </p:pic>
      <p:pic>
        <p:nvPicPr>
          <p:cNvPr id="8" name="Picture 7" descr="RS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0077" y="4572000"/>
            <a:ext cx="739471" cy="274320"/>
          </a:xfrm>
          <a:prstGeom prst="rect">
            <a:avLst/>
          </a:prstGeom>
        </p:spPr>
      </p:pic>
      <p:pic>
        <p:nvPicPr>
          <p:cNvPr id="9" name="Picture 8" descr="retraite et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2428" y="4572000"/>
            <a:ext cx="548640" cy="274320"/>
          </a:xfrm>
          <a:prstGeom prst="rect">
            <a:avLst/>
          </a:prstGeom>
        </p:spPr>
      </p:pic>
      <p:pic>
        <p:nvPicPr>
          <p:cNvPr id="10" name="Picture 9" descr="cnrac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3948" y="4572000"/>
            <a:ext cx="380082" cy="274320"/>
          </a:xfrm>
          <a:prstGeom prst="rect">
            <a:avLst/>
          </a:prstGeom>
        </p:spPr>
      </p:pic>
      <p:pic>
        <p:nvPicPr>
          <p:cNvPr id="11" name="Picture 10" descr="cpr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6910" y="4572000"/>
            <a:ext cx="278657" cy="274320"/>
          </a:xfrm>
          <a:prstGeom prst="rect">
            <a:avLst/>
          </a:prstGeom>
        </p:spPr>
      </p:pic>
      <p:pic>
        <p:nvPicPr>
          <p:cNvPr id="12" name="Picture 11" descr="cipav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38447" y="4572000"/>
            <a:ext cx="797242" cy="274320"/>
          </a:xfrm>
          <a:prstGeom prst="rect">
            <a:avLst/>
          </a:prstGeom>
        </p:spPr>
      </p:pic>
      <p:pic>
        <p:nvPicPr>
          <p:cNvPr id="13" name="Picture 12" descr="cnb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8569" y="4572000"/>
            <a:ext cx="546027" cy="274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" y="512064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Plus Jakarta Sans"/>
              </a:defRPr>
            </a:pPr>
            <a:r>
              <a:t>Principe : trimestres acquis → taux × moyenne de revenus.</a:t>
            </a:r>
            <a:br/>
            <a:r>
              <a:t>Cotisations plafonnées au PASS.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645920"/>
            <a:ext cx="5029200" cy="365760"/>
          </a:xfrm>
          <a:prstGeom prst="rect">
            <a:avLst/>
          </a:prstGeom>
          <a:solidFill>
            <a:srgbClr val="F5EDD9"/>
          </a:solidFill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8945F"/>
                </a:solidFill>
                <a:latin typeface="Plus Jakarta Sans"/>
              </a:defRPr>
            </a:pPr>
            <a:r>
              <a:t>RÉGIMES COMPLÉMENTAIRES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1031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Plus Jakarta Sans"/>
              </a:defRPr>
            </a:pPr>
            <a:r>
              <a:t>• AGIRC-ARRCO — Salariés privé</a:t>
            </a:r>
            <a:br/>
            <a:r>
              <a:t>• IRCANTEC — Non titulaires public</a:t>
            </a:r>
            <a:br/>
            <a:r>
              <a:t>• RAFP — Additionnelle fonctionnaires</a:t>
            </a:r>
            <a:br/>
            <a:r>
              <a:t>• SSI complémentaire — Indépendants</a:t>
            </a:r>
            <a:br/>
            <a:r>
              <a:t>• CIPAV complémentaire — Prof. libérales</a:t>
            </a:r>
            <a:br/>
            <a:r>
              <a:t>• CARPIMKO — Auxiliaires médicaux</a:t>
            </a:r>
            <a:br/>
            <a:r>
              <a:t>• CNBF complémentaire — Avocats</a:t>
            </a:r>
          </a:p>
        </p:txBody>
      </p:sp>
      <p:pic>
        <p:nvPicPr>
          <p:cNvPr id="17" name="Picture 16" descr="agirrarrc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0" y="4572000"/>
            <a:ext cx="786675" cy="274320"/>
          </a:xfrm>
          <a:prstGeom prst="rect">
            <a:avLst/>
          </a:prstGeom>
        </p:spPr>
      </p:pic>
      <p:pic>
        <p:nvPicPr>
          <p:cNvPr id="18" name="Picture 17" descr="ircantec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70355" y="4572000"/>
            <a:ext cx="601579" cy="274320"/>
          </a:xfrm>
          <a:prstGeom prst="rect">
            <a:avLst/>
          </a:prstGeom>
        </p:spPr>
      </p:pic>
      <p:pic>
        <p:nvPicPr>
          <p:cNvPr id="19" name="Picture 18" descr="rafp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54814" y="4572000"/>
            <a:ext cx="372291" cy="274320"/>
          </a:xfrm>
          <a:prstGeom prst="rect">
            <a:avLst/>
          </a:prstGeom>
        </p:spPr>
      </p:pic>
      <p:pic>
        <p:nvPicPr>
          <p:cNvPr id="20" name="Picture 19" descr="rsi-compl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09985" y="4572000"/>
            <a:ext cx="779809" cy="274320"/>
          </a:xfrm>
          <a:prstGeom prst="rect">
            <a:avLst/>
          </a:prstGeom>
        </p:spPr>
      </p:pic>
      <p:pic>
        <p:nvPicPr>
          <p:cNvPr id="21" name="Picture 20" descr="cipav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72674" y="4572000"/>
            <a:ext cx="797242" cy="274320"/>
          </a:xfrm>
          <a:prstGeom prst="rect">
            <a:avLst/>
          </a:prstGeom>
        </p:spPr>
      </p:pic>
      <p:pic>
        <p:nvPicPr>
          <p:cNvPr id="22" name="Picture 21" descr="carpimmo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652796" y="4572000"/>
            <a:ext cx="532770" cy="274320"/>
          </a:xfrm>
          <a:prstGeom prst="rect">
            <a:avLst/>
          </a:prstGeom>
        </p:spPr>
      </p:pic>
      <p:pic>
        <p:nvPicPr>
          <p:cNvPr id="23" name="Picture 22" descr="cnb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68446" y="4572000"/>
            <a:ext cx="546027" cy="2743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400800" y="512064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Plus Jakarta Sans"/>
              </a:defRPr>
            </a:pPr>
            <a:r>
              <a:t>Principe : cotisations → points × valeur de service.</a:t>
            </a:r>
            <a:br/>
            <a:r>
              <a:t>Cotisations souvent déplafonnées.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8945F"/>
                </a:solidFill>
                <a:latin typeface="Inter"/>
              </a:defRPr>
            </a:pPr>
            <a:r>
              <a:t>PROBLÉMATIQUES SPÉCIFIQUES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Plus Jakarta Sans"/>
              </a:defRPr>
            </a:pPr>
            <a:r>
              <a:t>Les carrières à l'international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01168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Plus Jakarta Sans"/>
              </a:defRPr>
            </a:pPr>
            <a:r>
              <a:t>1. Contrat d'expatrié, VIE, détaché, contrat local ou cotisations volontaires CFE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30175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Plus Jakarta Sans"/>
              </a:defRPr>
            </a:pPr>
            <a:r>
              <a:t>2. Pays avec ou sans convention de Sécurité Sociale avec la France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02336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Plus Jakarta Sans"/>
              </a:defRPr>
            </a:pPr>
            <a:r>
              <a:t>3. Quel impact pour la retraite française en termes de trimestres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50292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Plus Jakarta Sans"/>
              </a:defRPr>
            </a:pPr>
            <a:r>
              <a:t>4. Droits à pension étrangère ? Quand, combien, comment ?</a:t>
            </a:r>
          </a:p>
        </p:txBody>
      </p:sp>
      <p:pic>
        <p:nvPicPr>
          <p:cNvPr id="8" name="Picture 7" descr="carte mo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11680"/>
            <a:ext cx="5029200" cy="26103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8945F"/>
                </a:solidFill>
                <a:latin typeface="Inter"/>
              </a:defRPr>
            </a:pPr>
            <a:r>
              <a:t>NOTRE CONSTAT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Plus Jakarta Sans"/>
              </a:defRPr>
            </a:pPr>
            <a:r>
              <a:t>Des risques accrus sur les pensions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Plus Jakarta Sans"/>
              </a:defRPr>
            </a:pPr>
            <a:r>
              <a:t>• Carrières de plus en plus complexes, poly-affiliations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Plus Jakarta Sans"/>
              </a:defRPr>
            </a:pPr>
            <a:r>
              <a:t>• Réforme 2023 : conditions plus restrictives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Plus Jakarta Sans"/>
              </a:defRPr>
            </a:pPr>
            <a:r>
              <a:t>• Dégradation du service de traitement des caisses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Plus Jakarta Sans"/>
              </a:defRPr>
            </a:pPr>
            <a:r>
              <a:t>• Erreurs en augmentation constante (Cour des Comptes)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0" y="1371600"/>
          <a:ext cx="5029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9144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8945F"/>
                </a:solidFill>
                <a:latin typeface="Inter"/>
              </a:defRPr>
            </a:pPr>
            <a:r>
              <a:t>L'ACCOMPAGNEMENT ABL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Plus Jakarta Sans"/>
              </a:defRPr>
            </a:pPr>
            <a:r>
              <a:t>À chaque étape de votre parcours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B8945F"/>
                </a:solidFill>
                <a:latin typeface="Plus Jakarta Sans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Plus Jakarta Sans"/>
              </a:defRPr>
            </a:pPr>
            <a:r>
              <a:t>Reconstitution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Plus Jakarta Sans"/>
              </a:defRPr>
            </a:pPr>
            <a:r>
              <a:t>Fiabilisation &amp; optimisation des droits acquis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30175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B8945F"/>
                </a:solidFill>
                <a:latin typeface="Plus Jakarta Sans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3840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Plus Jakarta Sans"/>
              </a:defRPr>
            </a:pPr>
            <a:r>
              <a:t>Stratégie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43891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Plus Jakarta Sans"/>
              </a:defRPr>
            </a:pPr>
            <a:r>
              <a:t>Audit, projections chiffrées &amp; conseils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30175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B8945F"/>
                </a:solidFill>
                <a:latin typeface="Plus Jakarta Sans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840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Plus Jakarta Sans"/>
              </a:defRPr>
            </a:pPr>
            <a:r>
              <a:t>Liquidation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43891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Plus Jakarta Sans"/>
              </a:defRPr>
            </a:pPr>
            <a:r>
              <a:t>Accompagnement &amp; vérification des montants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8945F"/>
                </a:solidFill>
                <a:latin typeface="Inter"/>
              </a:defRPr>
            </a:pPr>
            <a:r>
              <a:t>ÉTAPE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2744"/>
                </a:solidFill>
                <a:latin typeface="Plus Jakarta Sans"/>
              </a:defRPr>
            </a:pPr>
            <a:r>
              <a:t>Reconstitution de carrière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Plus Jakarta Sans"/>
              </a:defRPr>
            </a:pPr>
            <a:r>
              <a:t>Comparaison entre les droits enregistrés et la réalité des droits acquis.</a:t>
            </a:r>
            <a:br/>
            <a:r>
              <a:t>Le RIS est délivré « en l'état » et a un caractère indicatif et provisoire (art. D161-2-1-4).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2744"/>
                </a:solidFill>
                <a:latin typeface="Plus Jakarta Sans"/>
              </a:defRPr>
            </a:pPr>
            <a:r>
              <a:t>→ Maîtrise de la législation et des barèmes</a:t>
            </a:r>
            <a:br/>
            <a:r>
              <a:t>→ Capacité à déceler erreurs et manquants</a:t>
            </a:r>
            <a:br/>
            <a:r>
              <a:t>→ Connaissance des subtilités réglementaires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C2626"/>
                </a:solidFill>
                <a:latin typeface="Plus Jakarta Sans"/>
              </a:defRPr>
            </a:pPr>
            <a:r>
              <a:t>⚠️ Ce que le RIS ne montre pas 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5603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Plus Jakarta Sans"/>
              </a:defRPr>
            </a:pPr>
            <a:r>
              <a:t>• Majorations enfants (jusqu'à +10 %)</a:t>
            </a:r>
            <a:br/>
            <a:r>
              <a:t>• Cotisations à l'étranger</a:t>
            </a:r>
            <a:br/>
            <a:r>
              <a:t>• Trimestres VIE, stages, ACRE</a:t>
            </a:r>
            <a:br/>
            <a:r>
              <a:t>• Distinction cotisés vs assimilés</a:t>
            </a:r>
            <a:br/>
            <a:r>
              <a:t>• Erreurs de report de salaires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8945F"/>
                </a:solidFill>
                <a:latin typeface="Inter"/>
              </a:defRPr>
            </a:pPr>
            <a:r>
              <a:t>RECONSTITUTION — POINTS DE VIGILANCE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Plus Jakarta Sans"/>
              </a:defRPr>
            </a:pPr>
            <a:r>
              <a:t>Les subtilités de vos droits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B683"/>
                </a:solidFill>
                <a:latin typeface="Plus Jakarta Sans"/>
              </a:defRPr>
            </a:pPr>
            <a:r>
              <a:t>Trimestres cotisés vs assimilés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Plus Jakarta Sans"/>
              </a:defRPr>
            </a:pPr>
            <a:r>
              <a:t>Impact pour la retraite anticipée carrière longue et le minimum contributif.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B683"/>
                </a:solidFill>
                <a:latin typeface="Plus Jakarta Sans"/>
              </a:defRPr>
            </a:pPr>
            <a:r>
              <a:t>Cotisations plafonnées / déplafonnées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9456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Plus Jakarta Sans"/>
              </a:defRPr>
            </a:pPr>
            <a:r>
              <a:t>Plafonnées au PASS en base, déplafonnées en complémentaire.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B683"/>
                </a:solidFill>
                <a:latin typeface="Plus Jakarta Sans"/>
              </a:defRPr>
            </a:pPr>
            <a:r>
              <a:t>Éléments non soumis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Plus Jakarta Sans"/>
              </a:defRPr>
            </a:pPr>
            <a:r>
              <a:t>Gratifications, avantages en nature, indemnités prud'homales.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291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B683"/>
                </a:solidFill>
                <a:latin typeface="Plus Jakarta Sans"/>
              </a:defRPr>
            </a:pPr>
            <a:r>
              <a:t>Périodes d'interruption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65760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Plus Jakarta Sans"/>
              </a:defRPr>
            </a:pPr>
            <a:r>
              <a:t>Maternité, maladie, chômage : droits spécifiques par régime.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B683"/>
                </a:solidFill>
                <a:latin typeface="Plus Jakarta Sans"/>
              </a:defRPr>
            </a:pPr>
            <a:r>
              <a:t>Majorations enfants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12064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Plus Jakarta Sans"/>
              </a:defRPr>
            </a:pPr>
            <a:r>
              <a:t>Jusqu'à +10 % base + bonus AGIRC-ARRCO.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754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B683"/>
                </a:solidFill>
                <a:latin typeface="Plus Jakarta Sans"/>
              </a:defRPr>
            </a:pPr>
            <a:r>
              <a:t>VIE, ACRE, stages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12064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Plus Jakarta Sans"/>
              </a:defRPr>
            </a:pPr>
            <a:r>
              <a:t>Périodes ouvrant des droits non reportés automatiquement.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8945F"/>
                </a:solidFill>
                <a:latin typeface="Inter"/>
              </a:defRPr>
            </a:pPr>
            <a:r>
              <a:t>ÉTAPE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2744"/>
                </a:solidFill>
                <a:latin typeface="Plus Jakarta Sans"/>
              </a:defRPr>
            </a:pPr>
            <a:r>
              <a:t>Stratégie de fin de carrière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Plus Jakarta Sans"/>
              </a:defRPr>
            </a:pPr>
            <a:r>
              <a:t>Une étude personnalisée qui tient compte de vos objectifs, attentes et impératifs.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744"/>
                </a:solidFill>
                <a:latin typeface="Plus Jakarta Sans"/>
              </a:defRPr>
            </a:pPr>
            <a:r>
              <a:t>🎯 Bilan des droits acquis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Plus Jakarta Sans"/>
              </a:defRPr>
            </a:pPr>
            <a:r>
              <a:t>Retraite anticipée, progressive, cumul emploi-retraite, rachats…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744"/>
                </a:solidFill>
                <a:latin typeface="Plus Jakarta Sans"/>
              </a:defRPr>
            </a:pPr>
            <a:r>
              <a:t>📊 Chiffrages &amp; projections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Plus Jakarta Sans"/>
              </a:defRPr>
            </a:pPr>
            <a:r>
              <a:t>Scénarios de départ, meilleurs rapports date/montant.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120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744"/>
                </a:solidFill>
                <a:latin typeface="Plus Jakarta Sans"/>
              </a:defRPr>
            </a:pPr>
            <a:r>
              <a:t>⚖️ Choix statutaires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4864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Plus Jakarta Sans"/>
              </a:defRPr>
            </a:pPr>
            <a:r>
              <a:t>Forme juridique, rémunération, expatriation, cotisations.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8945F"/>
                </a:solidFill>
                <a:latin typeface="Inter"/>
              </a:defRPr>
            </a:pPr>
            <a:r>
              <a:t>ÉTAPE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Plus Jakarta Sans"/>
              </a:defRPr>
            </a:pPr>
            <a:r>
              <a:t>Liquidation des droits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Plus Jakarta Sans"/>
              </a:defRPr>
            </a:pPr>
            <a:r>
              <a:t>Garantir le juste paiement des droits acquis au moment le plus opportun.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743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B683"/>
                </a:solidFill>
                <a:latin typeface="Plus Jakarta Sans"/>
              </a:defRPr>
            </a:pPr>
            <a:r>
              <a:t>📝 Déclenchement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31089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Plus Jakarta Sans"/>
              </a:defRPr>
            </a:pPr>
            <a:r>
              <a:t>Demande inter-régimes avec traçabilité des dépôts.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B683"/>
                </a:solidFill>
                <a:latin typeface="Plus Jakarta Sans"/>
              </a:defRPr>
            </a:pPr>
            <a:r>
              <a:t>🔍 Suivi des instructions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2976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Plus Jakarta Sans"/>
              </a:defRPr>
            </a:pPr>
            <a:r>
              <a:t>Envoi de pièces, réponses aux enquêtes des caisses.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5120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B683"/>
                </a:solidFill>
                <a:latin typeface="Plus Jakarta Sans"/>
              </a:defRPr>
            </a:pPr>
            <a:r>
              <a:t>✅ Vérifications &amp; recours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4864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Plus Jakarta Sans"/>
              </a:defRPr>
            </a:pPr>
            <a:r>
              <a:t>Contrôle des notifications, consolidation, recours.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8945F"/>
                </a:solidFill>
                <a:latin typeface="Inter"/>
              </a:defRPr>
            </a:pPr>
            <a:r>
              <a:t>NOTRE ENGAGEMENT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B8945F"/>
                </a:solidFill>
                <a:latin typeface="Plus Jakarta Sans"/>
              </a:defRPr>
            </a:pPr>
            <a:r>
              <a:t>Anticiper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Plus Jakarta Sans"/>
              </a:defRPr>
            </a:pPr>
            <a:r>
              <a:t>Reconstitution &amp; fiabilisation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25603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B8945F"/>
                </a:solidFill>
                <a:latin typeface="Plus Jakarta Sans"/>
              </a:defRPr>
            </a:pPr>
            <a:r>
              <a:t>Choisir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Plus Jakarta Sans"/>
              </a:defRPr>
            </a:pPr>
            <a:r>
              <a:t>Stratégie &amp; projections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25603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B8945F"/>
                </a:solidFill>
                <a:latin typeface="Plus Jakarta Sans"/>
              </a:defRPr>
            </a:pPr>
            <a:r>
              <a:t>Déclencher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Plus Jakarta Sans"/>
              </a:defRPr>
            </a:pPr>
            <a:r>
              <a:t>Liquidation &amp; vérification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7548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  <a:latin typeface="Plus Jakarta Sans"/>
              </a:defRPr>
            </a:pPr>
            <a:r>
              <a:t>« Préparez aujourd'hui avec sagesse</a:t>
            </a:r>
            <a:br/>
            <a:r>
              <a:t>pour savourer demain avec sérénité »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0" y="7315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Plus Jakarta Sans"/>
              </a:defRPr>
            </a:pPr>
            <a:r>
              <a:t>ABL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B8945F"/>
                </a:solidFill>
                <a:latin typeface="Plus Jakarta Sans"/>
              </a:defRPr>
            </a:pPr>
            <a:r>
              <a:t>TOULOUSE — SIÈGE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Plus Jakarta Sans"/>
              </a:defRPr>
            </a:pPr>
            <a:r>
              <a:t>55, av. Louis Bréguet</a:t>
            </a:r>
            <a:br/>
            <a:r>
              <a:t>Bât. Ariane, 3e étage</a:t>
            </a:r>
            <a:br/>
            <a:r>
              <a:t>31400 Toulouse</a:t>
            </a:r>
            <a:br/>
            <a:r>
              <a:t>05 34 42 17 84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2560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B8945F"/>
                </a:solidFill>
                <a:latin typeface="Plus Jakarta Sans"/>
              </a:defRPr>
            </a:pPr>
            <a:r>
              <a:t>BORDEAUX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301752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Plus Jakarta Sans"/>
              </a:defRPr>
            </a:pPr>
            <a:r>
              <a:t>Maison des Prof. Libérales</a:t>
            </a:r>
            <a:br/>
            <a:r>
              <a:t>51 bd Président Wilson</a:t>
            </a:r>
            <a:br/>
            <a:r>
              <a:t>33000 Bordeaux</a:t>
            </a:r>
            <a:br/>
            <a:r>
              <a:t>06 51 36 02 38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2560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B8945F"/>
                </a:solidFill>
                <a:latin typeface="Plus Jakarta Sans"/>
              </a:defRPr>
            </a:pPr>
            <a:r>
              <a:t>CONTACT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301752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Plus Jakarta Sans"/>
              </a:defRPr>
            </a:pPr>
            <a:r>
              <a:t>contact@abl-retraite.fr</a:t>
            </a:r>
            <a:br/>
            <a:br/>
            <a:r>
              <a:t>Expert indépendant en droits</a:t>
            </a:r>
            <a:br/>
            <a:r>
              <a:t>de retraite obligatoire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943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Plus Jakarta Sans"/>
              </a:defRPr>
            </a:pPr>
            <a:r>
              <a:t>ABL — Présentation 2026 · Tous droits réservés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