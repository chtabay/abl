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erreurs</c:v>
                </c:pt>
              </c:strCache>
            </c:strRef>
          </c:tx>
          <c:dPt>
            <c:idx val="0"/>
            <c:spPr>
              <a:solidFill>
                <a:srgbClr val="1A2744"/>
              </a:solidFill>
            </c:spPr>
          </c:dPt>
          <c:dPt>
            <c:idx val="1"/>
            <c:spPr>
              <a:solidFill>
                <a:srgbClr val="1A2744"/>
              </a:solidFill>
            </c:spPr>
          </c:dPt>
          <c:dPt>
            <c:idx val="2"/>
            <c:spPr>
              <a:solidFill>
                <a:srgbClr val="1A2744"/>
              </a:solidFill>
            </c:spPr>
          </c:dPt>
          <c:dPt>
            <c:idx val="3"/>
            <c:spPr>
              <a:solidFill>
                <a:srgbClr val="1A2744"/>
              </a:solidFill>
            </c:spPr>
          </c:dPt>
          <c:dPt>
            <c:idx val="4"/>
            <c:spPr>
              <a:solidFill>
                <a:srgbClr val="DC2626"/>
              </a:solidFill>
            </c:spPr>
          </c:dPt>
          <c:dPt>
            <c:idx val="5"/>
            <c:spPr>
              <a:solidFill>
                <a:srgbClr val="DC2626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10.9</c:v>
                </c:pt>
                <c:pt idx="1">
                  <c:v>12.4</c:v>
                </c:pt>
                <c:pt idx="2">
                  <c:v>14.3</c:v>
                </c:pt>
                <c:pt idx="3">
                  <c:v>15.5</c:v>
                </c:pt>
                <c:pt idx="4">
                  <c:v>18.3</c:v>
                </c:pt>
                <c:pt idx="5">
                  <c:v>21.4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2744"/>
                </a:solidFill>
                <a:latin typeface="Plus Jakarta Sans"/>
              </a:defRPr>
            </a:pPr>
            <a:r>
              <a:t>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2744"/>
                </a:solidFill>
                <a:latin typeface="Plus Jakarta Sans"/>
              </a:defRPr>
            </a:pPr>
            <a:r>
              <a:t>Votre partenaire de confiance</a:t>
            </a:r>
            <a:br/>
            <a:r>
              <a:t>pour une retraite sereine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Plus Jakarta Sans"/>
              </a:defRPr>
            </a:pPr>
            <a:r>
              <a:t>Expert indépendant en retraite obligatoire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945F"/>
                </a:solidFill>
                <a:latin typeface="Plus Jakarta Sans"/>
              </a:defRPr>
            </a:pPr>
            <a:r>
              <a:t>PRÉSENTATION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914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LA RETRAITE EN FRANCE, UN SUJET…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744"/>
                </a:solidFill>
                <a:latin typeface="Plus Jakarta Sans"/>
              </a:defRPr>
            </a:pPr>
            <a:r>
              <a:t>Universel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377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Concerne l'ensemble des actifs et retraités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744"/>
                </a:solidFill>
                <a:latin typeface="Plus Jakarta Sans"/>
              </a:defRPr>
            </a:pPr>
            <a:r>
              <a:t>Personnel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377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Chaque parcours est unique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744"/>
                </a:solidFill>
                <a:latin typeface="Plus Jakarta Sans"/>
              </a:defRPr>
            </a:pPr>
            <a:r>
              <a:t>Nébuleux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Un système complexe en perpétuelle évolution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744"/>
                </a:solidFill>
                <a:latin typeface="Plus Jakarta Sans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Des règles de calcul spécifiques à chaque régime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REPÈRES CHIFFRÉS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La retraite en France en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353 Md€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versés annuellement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17,9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de bénéficiaires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1 512 €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pension nette moyenne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72,1 %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taux de remplacement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30,1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de cotisants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23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23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durée de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23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Plus Jakarta Sans"/>
              </a:defRPr>
            </a:pPr>
            <a:r>
              <a:t>21,4 %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d'erreurs sur les pensions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Sources : DREES / Cour des Comptes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LE SYSTÈME DE RETRAITE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Trois piliers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Inter"/>
              </a:defRPr>
            </a:pPr>
            <a:r>
              <a:t>1er pilier — Obligatoire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2744"/>
                </a:solidFill>
                <a:latin typeface="Plus Jakarta Sans"/>
              </a:defRPr>
            </a:pPr>
            <a:r>
              <a:t>Retraite de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CNAV, MSA, SSI, SRE, CNRACL, régimes spéciaux, professions libérales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nter"/>
              </a:defRPr>
            </a:pPr>
            <a:r>
              <a:t>Par répartition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Inter"/>
              </a:defRPr>
            </a:pPr>
            <a:r>
              <a:t>2e pilier —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2744"/>
                </a:solidFill>
                <a:latin typeface="Plus Jakarta Sans"/>
              </a:defRPr>
            </a:pPr>
            <a:r>
              <a:t>Retraite complémentaire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AGIRC-ARRCO, IRCANTEC, RAFP…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035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nter"/>
              </a:defRPr>
            </a:pPr>
            <a:r>
              <a:t>Par répartition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Inter"/>
              </a:defRPr>
            </a:pPr>
            <a:r>
              <a:t>3e pilier — Optionnel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2744"/>
                </a:solidFill>
                <a:latin typeface="Plus Jakarta Sans"/>
              </a:defRPr>
            </a:pPr>
            <a:r>
              <a:t>Retraite supplémentaire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029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Inter"/>
              </a:defRPr>
            </a:pPr>
            <a:r>
              <a:t>PER, PERCO, art. 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nter"/>
              </a:defRPr>
            </a:pPr>
            <a:r>
              <a:t>Par capitalisation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LES RETRAITES OBLIGATOIRES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744"/>
                </a:solidFill>
                <a:latin typeface="Plus Jakarta Sans"/>
              </a:defRPr>
            </a:pPr>
            <a:r>
              <a:t>42 régimes nationaux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solidFill>
            <a:srgbClr val="1A2744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RÉGIMES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— CNAV / CARSAT — Régime Général</a:t>
            </a:r>
            <a:br/>
            <a:r>
              <a:t>— MSA — Agricoles</a:t>
            </a:r>
            <a:br/>
            <a:r>
              <a:t>— SSI (ex-RSI) — Indépendants</a:t>
            </a:r>
            <a:br/>
            <a:r>
              <a:t>— SRE — Fonctionnaires d'État</a:t>
            </a:r>
            <a:br/>
            <a:r>
              <a:t>— CNRACL — Territoriaux / hospitaliers</a:t>
            </a:r>
            <a:br/>
            <a:r>
              <a:t>— CPR SNCF, RATP — Régimes spéciaux</a:t>
            </a:r>
            <a:br/>
            <a:r>
              <a:t>— CNAVPL (dont CIPAV) — Prof. libérales</a:t>
            </a:r>
            <a:br/>
            <a:r>
              <a:t>— CNBF — Avocats</a:t>
            </a:r>
          </a:p>
        </p:txBody>
      </p:sp>
      <p:pic>
        <p:nvPicPr>
          <p:cNvPr id="6" name="Picture 5" descr="Assurance retra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1100177" cy="256032"/>
          </a:xfrm>
          <a:prstGeom prst="rect">
            <a:avLst/>
          </a:prstGeom>
        </p:spPr>
      </p:pic>
      <p:pic>
        <p:nvPicPr>
          <p:cNvPr id="7" name="Picture 6" descr="m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77" y="4114800"/>
            <a:ext cx="545100" cy="256032"/>
          </a:xfrm>
          <a:prstGeom prst="rect">
            <a:avLst/>
          </a:prstGeom>
        </p:spPr>
      </p:pic>
      <p:pic>
        <p:nvPicPr>
          <p:cNvPr id="8" name="Picture 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557" y="4114800"/>
            <a:ext cx="690173" cy="256032"/>
          </a:xfrm>
          <a:prstGeom prst="rect">
            <a:avLst/>
          </a:prstGeom>
        </p:spPr>
      </p:pic>
      <p:pic>
        <p:nvPicPr>
          <p:cNvPr id="9" name="Picture 8" descr="retraite e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610" y="4114800"/>
            <a:ext cx="512064" cy="256032"/>
          </a:xfrm>
          <a:prstGeom prst="rect">
            <a:avLst/>
          </a:prstGeom>
        </p:spPr>
      </p:pic>
      <p:pic>
        <p:nvPicPr>
          <p:cNvPr id="10" name="Picture 9" descr="cnra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554" y="4114800"/>
            <a:ext cx="354743" cy="256032"/>
          </a:xfrm>
          <a:prstGeom prst="rect">
            <a:avLst/>
          </a:prstGeom>
        </p:spPr>
      </p:pic>
      <p:pic>
        <p:nvPicPr>
          <p:cNvPr id="11" name="Picture 10" descr="cp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177" y="4114800"/>
            <a:ext cx="260080" cy="256032"/>
          </a:xfrm>
          <a:prstGeom prst="rect">
            <a:avLst/>
          </a:prstGeom>
        </p:spPr>
      </p:pic>
      <p:pic>
        <p:nvPicPr>
          <p:cNvPr id="12" name="Picture 11" descr="cipa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137" y="4114800"/>
            <a:ext cx="744093" cy="256032"/>
          </a:xfrm>
          <a:prstGeom prst="rect">
            <a:avLst/>
          </a:prstGeom>
        </p:spPr>
      </p:pic>
      <p:pic>
        <p:nvPicPr>
          <p:cNvPr id="13" name="Picture 12" descr="cn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8110" y="4114800"/>
            <a:ext cx="509626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Principe : trimestres acquis → taux × moyenne de revenus.</a:t>
            </a:r>
            <a:br/>
            <a:r>
              <a:t>Plafonnement au PASS. Lissage 25 meilleures années ou 6 derniers mois.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solidFill>
            <a:srgbClr val="F5EDD9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Inter"/>
              </a:defRPr>
            </a:pPr>
            <a:r>
              <a:t>RÉGIMES COMPLÉMENTAIRES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— AGIRC-ARRCO — Salariés privé</a:t>
            </a:r>
            <a:br/>
            <a:r>
              <a:t>— IRCANTEC — Non titulaires public</a:t>
            </a:r>
            <a:br/>
            <a:r>
              <a:t>— RAFP — Additionnelle fonctionnaires</a:t>
            </a:r>
            <a:br/>
            <a:r>
              <a:t>— SSI complémentaire — Indépendants</a:t>
            </a:r>
            <a:br/>
            <a:r>
              <a:t>— CIPAV complémentaire — Prof. libérales</a:t>
            </a:r>
            <a:br/>
            <a:r>
              <a:t>— CARPIMKO — Auxiliaires médicaux</a:t>
            </a:r>
            <a:br/>
            <a:r>
              <a:t>— CNBF complémentaire — Avocats</a:t>
            </a:r>
          </a:p>
        </p:txBody>
      </p:sp>
      <p:pic>
        <p:nvPicPr>
          <p:cNvPr id="17" name="Picture 16" descr="agirrarr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114800"/>
            <a:ext cx="734230" cy="256032"/>
          </a:xfrm>
          <a:prstGeom prst="rect">
            <a:avLst/>
          </a:prstGeom>
        </p:spPr>
      </p:pic>
      <p:pic>
        <p:nvPicPr>
          <p:cNvPr id="18" name="Picture 17" descr="ircant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7910" y="4114800"/>
            <a:ext cx="561474" cy="256032"/>
          </a:xfrm>
          <a:prstGeom prst="rect">
            <a:avLst/>
          </a:prstGeom>
        </p:spPr>
      </p:pic>
      <p:pic>
        <p:nvPicPr>
          <p:cNvPr id="19" name="Picture 18" descr="raf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2264" y="4114800"/>
            <a:ext cx="347472" cy="256032"/>
          </a:xfrm>
          <a:prstGeom prst="rect">
            <a:avLst/>
          </a:prstGeom>
        </p:spPr>
      </p:pic>
      <p:pic>
        <p:nvPicPr>
          <p:cNvPr id="20" name="Picture 19" descr="rsi-comp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2616" y="4114800"/>
            <a:ext cx="727821" cy="256032"/>
          </a:xfrm>
          <a:prstGeom prst="rect">
            <a:avLst/>
          </a:prstGeom>
        </p:spPr>
      </p:pic>
      <p:pic>
        <p:nvPicPr>
          <p:cNvPr id="21" name="Picture 20" descr="cipa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3317" y="4114800"/>
            <a:ext cx="744093" cy="256032"/>
          </a:xfrm>
          <a:prstGeom prst="rect">
            <a:avLst/>
          </a:prstGeom>
        </p:spPr>
      </p:pic>
      <p:pic>
        <p:nvPicPr>
          <p:cNvPr id="22" name="Picture 21" descr="carpimm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30290" y="4114800"/>
            <a:ext cx="497252" cy="256032"/>
          </a:xfrm>
          <a:prstGeom prst="rect">
            <a:avLst/>
          </a:prstGeom>
        </p:spPr>
      </p:pic>
      <p:pic>
        <p:nvPicPr>
          <p:cNvPr id="23" name="Picture 22" descr="cn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0422" y="4114800"/>
            <a:ext cx="509626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Principe : cotisations → points × valeur de service.</a:t>
            </a:r>
            <a:br/>
            <a:r>
              <a:t>Cotisations souvent déplafonnées.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PROBLÉMATIQUES SPÉCIFIQUES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Les carrières à l'international</a:t>
            </a:r>
          </a:p>
        </p:txBody>
      </p:sp>
      <p:pic>
        <p:nvPicPr>
          <p:cNvPr id="4" name="Picture 3" descr="carte mo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2847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nter"/>
              </a:defRPr>
            </a:pPr>
            <a:r>
              <a:t>■ Bleu : Règlements européens (UE/EEE/Suisse)</a:t>
            </a:r>
            <a:br/>
            <a:r>
              <a:t>■ Rose : Convention bilatérale de Sécurité Sociale</a:t>
            </a:r>
            <a:br/>
            <a:r>
              <a:t>■ Gris : Aucune convention — droits non coordonnés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1. Type de contrat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Expatrié, détaché, VIE, contrat local, CFE.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2. Totalisation des périodes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Trimestres étrangers pris en compte pour le taux, pas toujours pour le montant.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3. Pays sans convention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Aucune coordination : perte de trimestres.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4. Pension étrangère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Conditions d'âge et de durée propres à chaque pays.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NOTRE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Des risques accrus sur les pensions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Inter"/>
              </a:defRPr>
            </a:pPr>
            <a:r>
              <a:t>  !   Carrières complexes, poly-affiliations en hausse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Inter"/>
              </a:defRPr>
            </a:pPr>
            <a:r>
              <a:t>  !   Réforme 2023 : conditions plus restrictives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Inter"/>
              </a:defRPr>
            </a:pPr>
            <a:r>
              <a:t>  !   Dégradation du service de traitement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Inter"/>
              </a:defRPr>
            </a:pPr>
            <a:r>
              <a:t>  !   Erreurs de caisses en augmentation constante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09728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Inter"/>
              </a:defRPr>
            </a:pPr>
            <a:r>
              <a:t>Plus d'1 pension liquidée sur 5 comporte une erreur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L'ACCOMPAGNEMENT 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À chaque étape de votre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744"/>
                </a:solidFill>
                <a:latin typeface="Plus Jakarta Sans"/>
              </a:defRPr>
            </a:pPr>
            <a:r>
              <a:t>Reconstitution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Fiabilisation et optimisation</a:t>
            </a:r>
            <a:br/>
            <a:r>
              <a:t>des droits acquis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744"/>
                </a:solidFill>
                <a:latin typeface="Plus Jakarta Sans"/>
              </a:defRPr>
            </a:pPr>
            <a:r>
              <a:t>Stratégie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Audit personnalisé, projections</a:t>
            </a:r>
            <a:br/>
            <a:r>
              <a:t>chiffrées et conseils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744"/>
                </a:solidFill>
                <a:latin typeface="Plus Jakarta Sans"/>
              </a:defRPr>
            </a:pPr>
            <a:r>
              <a:t>Liquidation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Déclenchement, suivi et</a:t>
            </a:r>
            <a:br/>
            <a:r>
              <a:t>vérification des montants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1 — RECONSTITUTION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Le Relevé Individuel de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⚠️ Mention légale : le RIS est délivré « en l'état » et a un caractère indicatif et provisoire (art. D161-2-1-4 du CSS).</a:t>
            </a:r>
            <a:br/>
            <a:br/>
            <a:r>
              <a:t>Notre approche : comparaison systématique entre les droits enregistrés et la réalité des droits acquis.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Ce que contient le 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✓ Trimestres validés par année et par régime</a:t>
            </a:r>
            <a:br/>
            <a:r>
              <a:t>✓ Revenus d'activité déclarés</a:t>
            </a:r>
            <a:br/>
            <a:r>
              <a:t>✓ Points AGIRC-ARRCO et complémentaires</a:t>
            </a:r>
            <a:br/>
            <a:r>
              <a:t>✓ Estimation indicative de pension</a:t>
            </a:r>
            <a:br/>
            <a:r>
              <a:t>✓ Récapitulatif des régimes d'affiliation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Plus Jakarta Sans"/>
              </a:defRPr>
            </a:pPr>
            <a:r>
              <a:t>Ce que le RIS ne montre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Majorations enfants (jusqu'à +10 %)</a:t>
            </a:r>
            <a:br/>
            <a:r>
              <a:t>• Cotisations à l'étranger</a:t>
            </a:r>
            <a:br/>
            <a:r>
              <a:t>• Trimestres VIE, stages, ACRE, service militaire</a:t>
            </a:r>
            <a:br/>
            <a:r>
              <a:t>• Distinction cotisés vs assimilés</a:t>
            </a:r>
            <a:br/>
            <a:r>
              <a:t>• Erreurs de report de salaires ou de périodes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1 — RECONSTITUTION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Méthode de reconstitution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744"/>
                </a:solidFill>
                <a:latin typeface="Plus Jakarta Sans"/>
              </a:defRPr>
            </a:pPr>
            <a:r>
              <a:t>1. Collecte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Rassemblement du RIS, bulletins de salaire, attestations employeurs, relevés France Travail, certificats étrangers.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744"/>
                </a:solidFill>
                <a:latin typeface="Plus Jakarta Sans"/>
              </a:defRPr>
            </a:pPr>
            <a:r>
              <a:t>2. 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Vérification ligne par ligne : trimestres, salaires, points, cohérence base/complémentaire, détection des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744"/>
                </a:solidFill>
                <a:latin typeface="Plus Jakarta Sans"/>
              </a:defRPr>
            </a:pPr>
            <a:r>
              <a:t>3. Régularisation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Rédaction et dépôt des demandes de correction auprès des caisses, suivi des enquêtes, mise à jour des droits.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Inter"/>
              </a:defRPr>
            </a:pPr>
            <a:r>
              <a:t>• Relevé Individuel de Situation — téléchargeable sur info-retraite.fr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Inter"/>
              </a:defRPr>
            </a:pPr>
            <a:r>
              <a:t>• Bulletins de salaire — de préférence ceux de décembre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Inter"/>
              </a:defRPr>
            </a:pPr>
            <a:r>
              <a:t>• Attestations France Travail — périodes de chômage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Inter"/>
              </a:defRPr>
            </a:pPr>
            <a:r>
              <a:t>• Certificats étrangers — et formulaires de liaison 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1 — RECONSTITUTION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Les subtilités de vos droits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Trimestres cotisés vs assimilés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Impact pour carrière longue et minimum contributif.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Cotisations plafonnées / déplafonnées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Plafonnées au PASS en base, déplafonnées en complémentaire.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Éléments non soumis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Gratifications, avantages en nature, indemnités prud'homales.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Périodes d'interruption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Maternité, maladie, chômage : règles distinctes par régime.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Majorations enfants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Jusqu'à +10 % base + bonus AGIRC-ARRCO.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Plus Jakarta Sans"/>
              </a:defRPr>
            </a:pPr>
            <a:r>
              <a:t>VIE, ACRE,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Droits non reportés automatiquement — démarche nécessaire.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45F"/>
                </a:solidFill>
                <a:latin typeface="Inter"/>
              </a:defRPr>
            </a:pPr>
            <a:r>
              <a:t>L'EXPERTISE ABL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Inter"/>
              </a:defRPr>
            </a:pPr>
            <a:r>
              <a:t>→ Maîtrise de la législation de chaque régime   → Analyse croisée des justificatifs   → Connaissance des subtilités réglementaires et enquêtes auprès des caisses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2 — STRATÉGIE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De la fiabilisation au conseil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📅 Date plancher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Détermination de la date la plus précoce à taux plein.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📊 Estimations chiffrées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Projections nets par régime, scénarios à différentes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✓ Conditions d'accès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Carrière longue, handicap, pénibilité, catégorie active.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2 — STRATÉGIE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Étude personnalisée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Bilan des droits acquis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Consolidation inter-régimes, simulation à différentes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Retraite anticipée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Carrière longue, progressive, handicap, pénibilité.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Cumul emploi-retraite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Cumul intégral vs plafonné. Nouveaux droits post-2023.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Rachats de trimestres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Études, années incomplètes. Retour sur investissement.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Projections &amp; scénarios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Chiffrages nets, comparaison date/montant, impact fiscal.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Pistes d'optimisation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Stratégie cotisation, choix statutaires, expatriation.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2 — STRATÉGIE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Anticiper la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744"/>
                </a:solidFill>
                <a:latin typeface="Plus Jakarta Sans"/>
              </a:defRPr>
            </a:pPr>
            <a:r>
              <a:t>🎯 Anticiper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Planifier les démarches 18 à 24 mois avant la date souhaitée.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744"/>
                </a:solidFill>
                <a:latin typeface="Plus Jakarta Sans"/>
              </a:defRPr>
            </a:pPr>
            <a:r>
              <a:t>📋 Stratégie de cotisations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Optimiser les dernières années d'activité.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744"/>
                </a:solidFill>
                <a:latin typeface="Plus Jakarta Sans"/>
              </a:defRPr>
            </a:pPr>
            <a:r>
              <a:t>🔄 Dispositifs de transition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108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Retraite progressive, temps partiel senior, rupture conventionnelle.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3 — LIQUIDATION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Déclencher ses droits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La liquidation est un acte irréversible qui doit être préparé avec rigueur. Garantir le juste paiement au moment le plus opportun.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1. Choix du dispositif et de la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57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Validation de la stratégie, vérification des dernières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2. Dépôt des demandes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29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Déclenchement inter-régimes en ligne avec traçabilité.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3. Suivi de l'instruction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Pièces complémentaires, réponses aux enquêtes. ABL interlocuteur de référence.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3 — LIQUIDATION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Plus Jakarta Sans"/>
              </a:defRPr>
            </a:pPr>
            <a:r>
              <a:t>Vérification et recours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Contrôle des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Base retenue, trimestres pris en compte, taux, points, date d'effet.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Consolidation inter-régimes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Cohérence globale, montant net mensuel total après CSG/CRDS.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Recours amiables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CRA dans les délais réglementaires en cas d'écart constaté.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Accompagnement post-liquidation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Suivi des premiers versements, régularisations rétroactives.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744"/>
                </a:solidFill>
                <a:latin typeface="Inter"/>
              </a:defRPr>
            </a:pPr>
            <a:r>
              <a:t>Objectif : garantir le juste paiement, au bon moment, sur chaque régime.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NOTRE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A2744"/>
                </a:solidFill>
                <a:latin typeface="Plus Jakarta Sans"/>
              </a:defRPr>
            </a:pPr>
            <a:r>
              <a:t>Anticiper · Choisir · Déclencher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945F"/>
                </a:solidFill>
                <a:latin typeface="Plus Jakarta Sans"/>
              </a:defRPr>
            </a:pPr>
            <a:r>
              <a:t>Anticiper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Reconstitution et fiabilisation des droits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945F"/>
                </a:solidFill>
                <a:latin typeface="Plus Jakarta Sans"/>
              </a:defRPr>
            </a:pPr>
            <a:r>
              <a:t>Choisir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Stratégie personnalisée et aide à la décision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945F"/>
                </a:solidFill>
                <a:latin typeface="Plus Jakarta Sans"/>
              </a:defRPr>
            </a:pPr>
            <a:r>
              <a:t>Déclencher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490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Liquidation maîtrisée et vérification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Inter"/>
              </a:defRPr>
            </a:pPr>
            <a:r>
              <a:t>ABL intervient comme expert indépendant, sans lien avec les caisses de retraite ni les organismes financiers. Notre seul intérêt est celui de nos clients.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POURQUOI CHOISIR 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Plus Jakarta Sans"/>
              </a:defRPr>
            </a:pPr>
            <a:r>
              <a:t>Nos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🎓 Expertise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42 régimes maîtrisés, y compris international et poly-activité.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🔒 Indépendance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Aucun lien commercial avec caisses ou organismes financiers.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📋 Rigueur documentaire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Chaque analyse étayée par des textes réglementaires.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🤝 Accompagnement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De la reconstitution à la vérification post-liquidation.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📊 Résultats mesurables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Gains constatés sur les pensions grâce aux corrections.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⏱️ Réactivité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Délais maîtrisés, suivi régulier, communication transparente.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731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2744"/>
                </a:solidFill>
                <a:latin typeface="Plus Jakarta Sans"/>
              </a:defRPr>
            </a:pPr>
            <a:r>
              <a:t>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Inter"/>
              </a:defRPr>
            </a:pPr>
            <a:r>
              <a:t>TOULOUSE — SIÈGE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55, av. Louis Bréguet</a:t>
            </a:r>
            <a:br/>
            <a:r>
              <a:t>Bât. Ariane, 3e étage</a:t>
            </a:r>
            <a:br/>
            <a:r>
              <a:t>31400 Toulouse</a:t>
            </a:r>
            <a:br/>
            <a:r>
              <a:t>05 34 42 17 84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Inter"/>
              </a:defRPr>
            </a:pPr>
            <a:r>
              <a:t>BORDEAUX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Maison des Prof. Libérales</a:t>
            </a:r>
            <a:br/>
            <a:r>
              <a:t>51 bd Président Wilson</a:t>
            </a:r>
            <a:br/>
            <a:r>
              <a:t>33000 Bordeaux</a:t>
            </a:r>
            <a:br/>
            <a:r>
              <a:t>06 51 36 02 38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Inter"/>
              </a:defRPr>
            </a:pPr>
            <a: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Inter"/>
              </a:defRPr>
            </a:pPr>
            <a:r>
              <a:t>contact@abl-retraite.fr</a:t>
            </a:r>
            <a:br/>
            <a:br/>
            <a:r>
              <a:t>Expert indépendant en droits</a:t>
            </a:r>
            <a:br/>
            <a:r>
              <a:t>de retraite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ABL — Présentation institutionnelle 2026 ·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